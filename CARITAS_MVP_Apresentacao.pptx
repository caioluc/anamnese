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E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2743200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27432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</a:rPr>
              <a:t>MVP · CASE DE PRODUTO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CARITAS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CBD5E1"/>
                </a:solidFill>
              </a:rPr>
              <a:t>Sistema de Gestão Clínica para Psicólogos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931920"/>
            <a:ext cx="11247120" cy="36576"/>
          </a:xfrm>
          <a:prstGeom prst="rect">
            <a:avLst/>
          </a:prstGeom>
          <a:solidFill>
            <a:srgbClr val="5E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5EA3FF"/>
                </a:solidFill>
              </a:rPr>
              <a:t>Do Problema à Validação: Como Construímos um MVP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17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UniRiosead · Sistemas de Informação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E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65760"/>
            <a:ext cx="2011680" cy="384048"/>
          </a:xfrm>
          <a:prstGeom prst="rect">
            <a:avLst/>
          </a:prstGeom>
          <a:solidFill>
            <a:srgbClr val="5E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2011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</a:rPr>
              <a:t>01 · 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A Dor Real dos Psicólogos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1247120" cy="36576"/>
          </a:xfrm>
          <a:prstGeom prst="rect">
            <a:avLst/>
          </a:prstGeom>
          <a:solidFill>
            <a:srgbClr val="5E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 b="0">
                <a:solidFill>
                  <a:srgbClr val="FFFFFF"/>
                </a:solidFill>
              </a:rPr>
              <a:t>• 📄  Fichas físicas e documentos Word dispersos — risco de perda de dados clínicos sensíveis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FFFFFF"/>
                </a:solidFill>
              </a:rPr>
              <a:t>• 📋  Formulários genéricos que não respeitam a abordagem clínica do terapeuta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FFFFFF"/>
                </a:solidFill>
              </a:rPr>
              <a:t>• ⏱️  Preenchimento burocrático durante a sessão quebra a conexão terapêutica</a:t>
            </a:r>
          </a:p>
          <a:p>
            <a:pPr>
              <a:spcBef>
                <a:spcPts val="400"/>
              </a:spcBef>
            </a:pPr>
            <a:r>
              <a:rPr sz="1800" b="0">
                <a:solidFill>
                  <a:srgbClr val="FFFFFF"/>
                </a:solidFill>
              </a:rPr>
              <a:t>• 🔒  Falta de conformidade com sigilo profissional e legislação de privacidade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120640"/>
            <a:ext cx="10698480" cy="1371600"/>
          </a:xfrm>
          <a:prstGeom prst="rect">
            <a:avLst/>
          </a:prstGeom>
          <a:solidFill>
            <a:srgbClr val="16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34D399"/>
                </a:solidFill>
              </a:rPr>
              <a:t>💡  Hipótese de Valor:  Se criarmos um sistema com stepper visual, auto-save e customização de fichas,
reduzimos a burocracia e aumentamos a segurança clínica.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65760"/>
            <a:ext cx="2011680" cy="3840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2011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</a:rPr>
              <a:t>02 · REQUISITOS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Levantamento com Empatia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124712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291840" cy="438912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A3FF"/>
                </a:solidFill>
              </a:rPr>
              <a:t>Beatriz · Iniciante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3063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CBD5E1"/>
                </a:solidFill>
              </a:rPr>
              <a:t>• Recém-formada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BD5E1"/>
                </a:solidFill>
              </a:rPr>
              <a:t>• 1º contato com sistemas digitais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BD5E1"/>
                </a:solidFill>
              </a:rPr>
              <a:t>• Precisa de modelos prontos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BD5E1"/>
                </a:solidFill>
              </a:rPr>
              <a:t>• Zero curva de aprendizado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828800"/>
            <a:ext cx="3291840" cy="438912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9659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A3FF"/>
                </a:solidFill>
              </a:rPr>
              <a:t>Dra. Patrícia · Intermediária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971800"/>
            <a:ext cx="3063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CBD5E1"/>
                </a:solidFill>
              </a:rPr>
              <a:t>• Consultório ativo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BD5E1"/>
                </a:solidFill>
              </a:rPr>
              <a:t>• 25-35 pacientes/semana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BD5E1"/>
                </a:solidFill>
              </a:rPr>
              <a:t>• Foco em velocidade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BD5E1"/>
                </a:solidFill>
              </a:rPr>
              <a:t>• Busca rápida (Ctrl+K)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1828800"/>
            <a:ext cx="3291840" cy="438912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19659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4688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A3FF"/>
                </a:solidFill>
              </a:rPr>
              <a:t>Dra. Renata · Avançada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2971800"/>
            <a:ext cx="3063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CBD5E1"/>
                </a:solidFill>
              </a:rPr>
              <a:t>• Gestora clínica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BD5E1"/>
                </a:solidFill>
              </a:rPr>
              <a:t>• Cria fichas customizadas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BD5E1"/>
                </a:solidFill>
              </a:rPr>
              <a:t>• Relatórios avançados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BD5E1"/>
                </a:solidFill>
              </a:rPr>
              <a:t>• Drag-and-drop builder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BD5E1"/>
                </a:solidFill>
              </a:rPr>
              <a:t>Metodologia: Framework DECIDE + Heurísticas de Nielsen (IHC)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E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65760"/>
            <a:ext cx="2011680" cy="384048"/>
          </a:xfrm>
          <a:prstGeom prst="rect">
            <a:avLst/>
          </a:prstGeom>
          <a:solidFill>
            <a:srgbClr val="5E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2011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</a:rPr>
              <a:t>03 · ESCOPO DO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O Que Entrou e o Que Ficou de Fora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1247120" cy="36576"/>
          </a:xfrm>
          <a:prstGeom prst="rect">
            <a:avLst/>
          </a:prstGeom>
          <a:solidFill>
            <a:srgbClr val="5E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120640" cy="4572000"/>
          </a:xfrm>
          <a:prstGeom prst="rect">
            <a:avLst/>
          </a:prstGeom>
          <a:solidFill>
            <a:srgbClr val="0D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</a:rPr>
              <a:t>✅  CORE DO 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• Autenticação e isolamento de dados por profissional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• Cadastro e busca rápida de pacientes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• Anamnese Adulto e Adolescente (Stepper 7 etapas)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• Construtor de questionários personalizados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• Registro de sessões + exportação em PDF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• Resumo clínico inteligente via I.A. (OpenAI)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FFFFFF"/>
                </a:solidFill>
              </a:rPr>
              <a:t>• Agenda e controle financeiro básico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5120640" cy="4572000"/>
          </a:xfrm>
          <a:prstGeom prst="rect">
            <a:avLst/>
          </a:prstGeom>
          <a:solidFill>
            <a:srgbClr val="2A1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202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</a:rPr>
              <a:t>⏳  ADIADO CONSCIENTEMENTE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4231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0">
                <a:solidFill>
                  <a:srgbClr val="CBD5E1"/>
                </a:solidFill>
              </a:rPr>
              <a:t>• Multi-tenancy para grandes redes hospitalares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BD5E1"/>
                </a:solidFill>
              </a:rPr>
              <a:t>• Aplicativo mobile nativo (iOS/Android)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BD5E1"/>
                </a:solidFill>
              </a:rPr>
              <a:t>• Gateway de pagamento integrado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BD5E1"/>
                </a:solidFill>
              </a:rPr>
              <a:t>• Assinatura digital de documentos clínicos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BD5E1"/>
                </a:solidFill>
              </a:rPr>
              <a:t>• Relatórios analíticos avançados (BI)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CBD5E1"/>
                </a:solidFill>
              </a:rPr>
              <a:t>• Integração com prontuário eletrônico nacional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65760"/>
            <a:ext cx="2011680" cy="3840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2011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</a:rPr>
              <a:t>04 · A CONSTRUÇÃO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Stack Lean + Decisões Técnicas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1247120" cy="3657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2651760" cy="1280160"/>
          </a:xfrm>
          <a:prstGeom prst="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A3FF"/>
                </a:solidFill>
              </a:rPr>
              <a:t>⚛️ React 19 +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Frontend ultra-rápido (SPA)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38728" y="1920240"/>
            <a:ext cx="2651760" cy="1280160"/>
          </a:xfrm>
          <a:prstGeom prst="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2011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A3FF"/>
                </a:solidFill>
              </a:rPr>
              <a:t>🔥 Firebase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4231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Serverless: Auth + Firestore + Hosting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37376" y="1920240"/>
            <a:ext cx="2651760" cy="1280160"/>
          </a:xfrm>
          <a:prstGeom prst="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8816" y="2011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A3FF"/>
                </a:solidFill>
              </a:rPr>
              <a:t>🎨 Tailwind CSS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24231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Dark Mode nativo + Design System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36024" y="1920240"/>
            <a:ext cx="2651760" cy="1280160"/>
          </a:xfrm>
          <a:prstGeom prst="rect">
            <a:avLst/>
          </a:prstGeom>
          <a:solidFill>
            <a:srgbClr val="1E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27464" y="20116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A3FF"/>
                </a:solidFill>
              </a:rPr>
              <a:t>🤖 OpenAI GPT-4o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7464" y="24231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Resumos clínicos por I.A.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A855F7"/>
                </a:solidFill>
              </a:rPr>
              <a:t>Diferenciais Implementados no MVP: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77639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</a:rPr>
              <a:t>🔄  Auto-Save Inteligente — localStorage com debounce de 2s (proteção contra perda durante sessão)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</a:rPr>
              <a:t>🏗️  Isolamento de Dados — estrutura hierárquica no Firestore: /psicologos/{uid}/pacientes/{pid}/...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</a:rPr>
              <a:t>📄  PDF Client-Side — geração de prontuário sem servidor com jsPDF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</a:rPr>
              <a:t>🧩  Design System Modular — componentes reutilizáveis preparados para escala (Button, Card, Badge)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65760"/>
            <a:ext cx="2011680" cy="3840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2011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</a:rPr>
              <a:t>05 · PÚBLICO-ALVO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Para Quem se Destina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124712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5120640" cy="3840480"/>
          </a:xfrm>
          <a:prstGeom prst="rect">
            <a:avLst/>
          </a:prstGeom>
          <a:solidFill>
            <a:srgbClr val="0D2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</a:rPr>
              <a:t>👤 Público Primário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0">
                <a:solidFill>
                  <a:srgbClr val="FFFFFF"/>
                </a:solidFill>
              </a:rPr>
              <a:t>• Psicólogos autônomos com consultório particular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FFFFFF"/>
                </a:solidFill>
              </a:rPr>
              <a:t>• Terapeutas que realizam atendimentos online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FFFFFF"/>
                </a:solidFill>
              </a:rPr>
              <a:t>• Profissionais de saúde mental independentes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828800"/>
            <a:ext cx="5120640" cy="3840480"/>
          </a:xfrm>
          <a:prstGeom prst="rect">
            <a:avLst/>
          </a:prstGeom>
          <a:solidFill>
            <a:srgbClr val="0D2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965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4D399"/>
                </a:solidFill>
              </a:rPr>
              <a:t>🏥 Público Secundário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46888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0">
                <a:solidFill>
                  <a:srgbClr val="FFFFFF"/>
                </a:solidFill>
              </a:rPr>
              <a:t>• Pequenas clínicas multidisciplinares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FFFFFF"/>
                </a:solidFill>
              </a:rPr>
              <a:t>• Consultórios compartilhados / coworkings de saúde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FFFFFF"/>
                </a:solidFill>
              </a:rPr>
              <a:t>• Supervisores e gestores de equipes clínicas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852160"/>
            <a:ext cx="10698480" cy="777240"/>
          </a:xfrm>
          <a:prstGeom prst="rect">
            <a:avLst/>
          </a:prstGeom>
          <a:solidFill>
            <a:srgbClr val="051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897880"/>
            <a:ext cx="10332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34D399"/>
                </a:solidFill>
              </a:rPr>
              <a:t>🎯  Proposta de Valor Única: Simplicidade estética + Segurança clínica + sem a complexidade de ERPs hospitalares pesados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E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65760"/>
            <a:ext cx="2011680" cy="384048"/>
          </a:xfrm>
          <a:prstGeom prst="rect">
            <a:avLst/>
          </a:prstGeom>
          <a:solidFill>
            <a:srgbClr val="5E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2011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</a:rPr>
              <a:t>06 · ESCALABILIDADE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Como Vimos o Escopo para Escalar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1247120" cy="36576"/>
          </a:xfrm>
          <a:prstGeom prst="rect">
            <a:avLst/>
          </a:prstGeom>
          <a:solidFill>
            <a:srgbClr val="5E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EA3FF"/>
                </a:solidFill>
              </a:rPr>
              <a:t>📐  Técnica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</a:rPr>
              <a:t>• Code Splitting + React.lazy() — chunks sob demanda, app leve mesmo com novos módulos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</a:rPr>
              <a:t>• Cache em memória (TTL 5min) — evita queries N+1 no dashboard financeiro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</a:rPr>
              <a:t>• Firestore Rules rigorosas — segurança e isolamento prontos para multiusuário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</a:rPr>
              <a:t>• PWA-ready — funciona offline parcialmente sem custo de app nativo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EA3FF"/>
                </a:solidFill>
              </a:rPr>
              <a:t>📈  Modelo de Negócio (Freemium SaaS)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317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</a:rPr>
              <a:t>• Plano Básico (gratuito) — 1 local de atendimento · validação e tração inicial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</a:rPr>
              <a:t>• Plano Profissional — múltiplos locais + maior cota de I.A. + relatórios avançados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</a:rPr>
              <a:t>• Plano Clínicas — multi-profissional + painel administrativo + integrações futuras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623560"/>
            <a:ext cx="11247120" cy="36576"/>
          </a:xfrm>
          <a:prstGeom prst="rect">
            <a:avLst/>
          </a:prstGeom>
          <a:solidFill>
            <a:srgbClr val="5E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607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BD5E1"/>
                </a:solidFill>
              </a:rPr>
              <a:t>A arquitetura foi desenhada para crescer sem reescrever.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65760"/>
            <a:ext cx="2011680" cy="38404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2011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</a:rPr>
              <a:t>07 · VALIDAÇÃO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Do Teste ao MVP Viável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124712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383280" cy="2011680"/>
          </a:xfrm>
          <a:prstGeom prst="rect">
            <a:avLst/>
          </a:prstGeom>
          <a:solidFill>
            <a:srgbClr val="0D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D399"/>
                </a:solidFill>
              </a:rPr>
              <a:t>⚡  Eficiência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Anamnese completa
em &lt; 12 minutos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7408" y="1828800"/>
            <a:ext cx="3383280" cy="2011680"/>
          </a:xfrm>
          <a:prstGeom prst="rect">
            <a:avLst/>
          </a:prstGeom>
          <a:solidFill>
            <a:srgbClr val="0D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920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D399"/>
                </a:solidFill>
              </a:rPr>
              <a:t>🎯  Eficácia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4688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Taxa de conclusão
≥ 80% sem erros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74736" y="1828800"/>
            <a:ext cx="3383280" cy="2011680"/>
          </a:xfrm>
          <a:prstGeom prst="rect">
            <a:avLst/>
          </a:prstGeom>
          <a:solidFill>
            <a:srgbClr val="0D2D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1896" y="19202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4D399"/>
                </a:solidFill>
              </a:rPr>
              <a:t>💬  Satisfação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6" y="24688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SUS Score ≥ 70
Indicação a colegas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0690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EA3FF"/>
                </a:solidFill>
              </a:rPr>
              <a:t>Metodologia: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48056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</a:rPr>
              <a:t>• Teste de Usabilidade com Protocolo Think Aloud (Pensar Alto) — 9 psicólogas em 2 ciclos iterativos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</a:rPr>
              <a:t>• Escala SUS (System Usability Scale) padronizada — benchmark de mercado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</a:rPr>
              <a:t>• Fase Beta com protocolo de avaliação completo por módulos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FFFFFF"/>
                </a:solidFill>
              </a:rPr>
              <a:t>• Ponto de maturidade: usuárias conseguem usar sem treinamento prévio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E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365760"/>
            <a:ext cx="2011680" cy="384048"/>
          </a:xfrm>
          <a:prstGeom prst="rect">
            <a:avLst/>
          </a:prstGeom>
          <a:solidFill>
            <a:srgbClr val="5E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2011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F172A"/>
                </a:solidFill>
              </a:rPr>
              <a:t>08 · LIÇÕES APRENDIDAS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O Que o CARITAS nos Ensinou sobre MVP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1247120" cy="36576"/>
          </a:xfrm>
          <a:prstGeom prst="rect">
            <a:avLst/>
          </a:prstGeom>
          <a:solidFill>
            <a:srgbClr val="5E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640080" cy="822960"/>
          </a:xfrm>
          <a:prstGeom prst="rect">
            <a:avLst/>
          </a:prstGeom>
          <a:solidFill>
            <a:srgbClr val="1A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0116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9202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EA3FF"/>
                </a:solidFill>
              </a:rPr>
              <a:t>MVP é sobre aprendizado rápido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26771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Testar com usuários reais cedo evita construir funcionalidades que ninguém vai usar.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017520"/>
            <a:ext cx="640080" cy="822960"/>
          </a:xfrm>
          <a:prstGeom prst="rect">
            <a:avLst/>
          </a:prstGeom>
          <a:solidFill>
            <a:srgbClr val="1A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1089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0175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EA3FF"/>
                </a:solidFill>
              </a:rPr>
              <a:t>Simplicidade técnica consciente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36499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Serverless + Vite nos deixou focar 100% na experiência do usuário, não em infra.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14800"/>
            <a:ext cx="640080" cy="822960"/>
          </a:xfrm>
          <a:prstGeom prst="rect">
            <a:avLst/>
          </a:prstGeom>
          <a:solidFill>
            <a:srgbClr val="1A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114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EA3FF"/>
                </a:solidFill>
              </a:rPr>
              <a:t>Usabilidade é diferencial competitivo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46227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Na área de saúde, um software fácil e confiável garante a retenção do profissional.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12079"/>
            <a:ext cx="640080" cy="822960"/>
          </a:xfrm>
          <a:prstGeom prst="rect">
            <a:avLst/>
          </a:prstGeom>
          <a:solidFill>
            <a:srgbClr val="1A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30351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521207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EA3FF"/>
                </a:solidFill>
              </a:rPr>
              <a:t>Valide com métricas, não com opiniões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559551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BD5E1"/>
                </a:solidFill>
              </a:rPr>
              <a:t>SUS Score, taxa de conclusão e tempo de tarefa substituem achismos de produto.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400800"/>
            <a:ext cx="11247120" cy="36576"/>
          </a:xfrm>
          <a:prstGeom prst="rect">
            <a:avLst/>
          </a:prstGeom>
          <a:solidFill>
            <a:srgbClr val="5E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464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BD5E1"/>
                </a:solidFill>
              </a:rPr>
              <a:t>"O CARITAS nasceu de um problema real e se tornou viável porque cada decisão foi pensada para quem cuida da saúde mental."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